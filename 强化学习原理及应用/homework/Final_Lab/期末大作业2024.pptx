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3"/>
  </p:notesMasterIdLst>
  <p:handoutMasterIdLst>
    <p:handoutMasterId r:id="rId14"/>
  </p:handoutMasterIdLst>
  <p:sldIdLst>
    <p:sldId id="257" r:id="rId2"/>
    <p:sldId id="292" r:id="rId3"/>
    <p:sldId id="259" r:id="rId4"/>
    <p:sldId id="321" r:id="rId5"/>
    <p:sldId id="327" r:id="rId6"/>
    <p:sldId id="326" r:id="rId7"/>
    <p:sldId id="322" r:id="rId8"/>
    <p:sldId id="323" r:id="rId9"/>
    <p:sldId id="324" r:id="rId10"/>
    <p:sldId id="325" r:id="rId11"/>
    <p:sldId id="328" r:id="rId1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竞宜" initials="竞宜" lastIdx="1" clrIdx="0">
    <p:extLst>
      <p:ext uri="{19B8F6BF-5375-455C-9EA6-DF929625EA0E}">
        <p15:presenceInfo xmlns:p15="http://schemas.microsoft.com/office/powerpoint/2012/main" userId="960e767b342a8d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163CA-4696-4FF8-8E0D-81C7372B75D6}" v="19" dt="2024-12-03T05:11:54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1" autoAdjust="0"/>
    <p:restoredTop sz="83853" autoAdjust="0"/>
  </p:normalViewPr>
  <p:slideViewPr>
    <p:cSldViewPr snapToGrid="0">
      <p:cViewPr varScale="1">
        <p:scale>
          <a:sx n="74" d="100"/>
          <a:sy n="74" d="100"/>
        </p:scale>
        <p:origin x="6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DE3333-857A-4131-9EBA-B73C0C259FD7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73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72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19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74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81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08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8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13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CD12D00-6AAC-4A94-B2E5-A12E9C579B03}" type="datetime1">
              <a:rPr lang="zh-CN" altLang="en-US" smtClean="0"/>
              <a:t>2024/12/3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8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594A98-8FB4-4076-AE7B-5D3B1A2CBC70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4FFC25-0C05-49C8-B150-3CF6B89B5C55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C14310-5240-428A-850A-F7101D16AE5A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85B13-09B0-4D01-A286-57280995F924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11FE78-D258-4188-9C5F-198CC4CE7F12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491C52-D618-41DD-80F2-22500A780186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EE3488-748A-4EA8-9571-9D5A1694FA0A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D7791703-7779-4492-8183-3F96B27D2540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D22F12-409A-40D9-8774-D34C978752A7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0F2F7-3EF1-4761-ABAF-2FA9DDE4F1A8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矩形​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63FC6D-277D-4D53-8EB6-E41026A24247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400FF2F-BAC0-4F33-9E13-F8F6FA55A14D}" type="datetime1">
              <a:rPr lang="zh-CN" altLang="en-US" smtClean="0"/>
              <a:t>2024/12/3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kern="1200" cap="all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lhomework2022@163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verleaf.com/read/jngkwhzxrfkb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rlhomework@163.co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长方形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895" y="1110594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强化学习与博弈论课程期末大作业</a:t>
            </a:r>
            <a:endParaRPr lang="zh-cn" dirty="0"/>
          </a:p>
        </p:txBody>
      </p:sp>
      <p:sp>
        <p:nvSpPr>
          <p:cNvPr id="20" name="长方形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4" name="长方形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大作业选题：四选一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5FB704C-A766-47FA-8052-7688472FA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24880"/>
            <a:ext cx="11029615" cy="319444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A</a:t>
            </a:r>
            <a:r>
              <a:rPr lang="zh-CN" altLang="en-US" sz="2400" dirty="0"/>
              <a:t>）定义一个研究问题，利用课程的理论与算法进行研究</a:t>
            </a:r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B</a:t>
            </a:r>
            <a:r>
              <a:rPr lang="zh-CN" altLang="en-US" sz="2400" dirty="0"/>
              <a:t>）实现给定的复杂的系统任务</a:t>
            </a:r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C</a:t>
            </a:r>
            <a:r>
              <a:rPr lang="zh-CN" altLang="en-US" sz="2400" dirty="0"/>
              <a:t>）实现现有论文的算法，并做一定拓展</a:t>
            </a:r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D</a:t>
            </a:r>
            <a:r>
              <a:rPr lang="zh-CN" altLang="en-US" sz="2400" dirty="0"/>
              <a:t>）选取一个具体研究方向，进行前沿工作综述调研报告 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最高</a:t>
            </a:r>
            <a:r>
              <a:rPr lang="en-US" altLang="zh-CN" sz="2400">
                <a:solidFill>
                  <a:srgbClr val="FF0000"/>
                </a:solidFill>
              </a:rPr>
              <a:t>80</a:t>
            </a:r>
            <a:r>
              <a:rPr lang="zh-CN" altLang="en-US" sz="2400">
                <a:solidFill>
                  <a:srgbClr val="FF0000"/>
                </a:solidFill>
              </a:rPr>
              <a:t>分</a:t>
            </a:r>
            <a:r>
              <a:rPr lang="en-US" altLang="zh-CN" sz="2400" dirty="0"/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4D8F62-F5DD-41AB-8A76-F2AF7E7A65B6}"/>
              </a:ext>
            </a:extLst>
          </p:cNvPr>
          <p:cNvSpPr txBox="1"/>
          <p:nvPr/>
        </p:nvSpPr>
        <p:spPr>
          <a:xfrm>
            <a:off x="346589" y="4016703"/>
            <a:ext cx="10366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总体要求：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独立完成，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latex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撰写，英文报告，严禁抄袭</a:t>
            </a:r>
            <a:endParaRPr lang="en-US" altLang="zh-CN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4CEEC0-2ADE-4408-BB33-1C643B714473}"/>
              </a:ext>
            </a:extLst>
          </p:cNvPr>
          <p:cNvSpPr txBox="1"/>
          <p:nvPr/>
        </p:nvSpPr>
        <p:spPr>
          <a:xfrm>
            <a:off x="346589" y="6155844"/>
            <a:ext cx="8502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4950"/>
            <a:r>
              <a:rPr lang="zh-CN" alt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  为高分选项，最高</a:t>
            </a: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100</a:t>
            </a:r>
            <a:r>
              <a:rPr lang="zh-CN" alt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</a:t>
            </a:r>
            <a:endParaRPr lang="en-US" altLang="zh-CN"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028B7E-89A1-4C86-AC5C-DAB67351C54B}"/>
              </a:ext>
            </a:extLst>
          </p:cNvPr>
          <p:cNvSpPr txBox="1"/>
          <p:nvPr/>
        </p:nvSpPr>
        <p:spPr>
          <a:xfrm>
            <a:off x="346588" y="4569782"/>
            <a:ext cx="110245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大作业提交最后期限：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年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月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24:00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2400" i="1" dirty="0">
                <a:hlinkClick r:id="rId3"/>
              </a:rPr>
              <a:t>rlhomework2022@163.com</a:t>
            </a:r>
            <a:endParaRPr lang="en-US" altLang="zh-CN" sz="2400" i="1" dirty="0"/>
          </a:p>
          <a:p>
            <a:pPr marL="539750" indent="-3048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CE27A4-C4EB-48B1-B78E-BFC05131A166}"/>
              </a:ext>
            </a:extLst>
          </p:cNvPr>
          <p:cNvSpPr txBox="1"/>
          <p:nvPr/>
        </p:nvSpPr>
        <p:spPr>
          <a:xfrm>
            <a:off x="346588" y="5122862"/>
            <a:ext cx="9859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提交邮件标题格式：学号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姓名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期末大作业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AE55EB-CB47-463C-83D0-5C212A1D1A9B}"/>
              </a:ext>
            </a:extLst>
          </p:cNvPr>
          <p:cNvSpPr txBox="1"/>
          <p:nvPr/>
        </p:nvSpPr>
        <p:spPr>
          <a:xfrm>
            <a:off x="346586" y="5598806"/>
            <a:ext cx="12165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indent="-3048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Latex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模板：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hlinkClick r:id="rId4"/>
              </a:rPr>
              <a:t>https://www.overleaf.com/read/jngkwhzxrfkb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496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（</a:t>
            </a:r>
            <a:r>
              <a:rPr lang="en-US" altLang="zh-CN" cap="none" dirty="0"/>
              <a:t>A</a:t>
            </a:r>
            <a:r>
              <a:rPr lang="zh-CN" altLang="en-US" cap="none" dirty="0"/>
              <a:t>）定义一个研究问题，利用课程的理论与算法进行研究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DAAA5-32AE-4CC8-8382-5ABCAD37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53823"/>
            <a:ext cx="11029615" cy="367271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zh-CN" altLang="en-US" sz="2400" dirty="0"/>
              <a:t>要求：自定义一个研究问题，包括问题的背景，定义和求解，其中求解问题的算法要用到本学期课程学到的理论和算法，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>
                <a:solidFill>
                  <a:srgbClr val="FF0000"/>
                </a:solidFill>
              </a:rPr>
              <a:t>页以上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spcAft>
                <a:spcPts val="1800"/>
              </a:spcAft>
            </a:pPr>
            <a:r>
              <a:rPr lang="zh-CN" altLang="en-US" sz="2400" dirty="0"/>
              <a:t>形式：报告的形式要和学术论文一样，包括摘要，介绍，相关工作，问题定义，算法求解和实验结果。</a:t>
            </a:r>
            <a:endParaRPr lang="en-US" altLang="zh-CN" sz="2400" dirty="0"/>
          </a:p>
          <a:p>
            <a:r>
              <a:rPr lang="zh-CN" altLang="en-US" sz="2400" dirty="0"/>
              <a:t>给分基准：问题的新颖性（</a:t>
            </a:r>
            <a:r>
              <a:rPr lang="en-US" altLang="zh-CN" sz="2400" dirty="0"/>
              <a:t>20%</a:t>
            </a:r>
            <a:r>
              <a:rPr lang="zh-CN" altLang="en-US" sz="2400" dirty="0"/>
              <a:t>），论文的完成程度（</a:t>
            </a:r>
            <a:r>
              <a:rPr lang="en-US" altLang="zh-CN" sz="2400" dirty="0"/>
              <a:t>30%</a:t>
            </a:r>
            <a:r>
              <a:rPr lang="zh-CN" altLang="en-US" sz="2400" dirty="0"/>
              <a:t>），算法的可行性（</a:t>
            </a:r>
            <a:r>
              <a:rPr lang="en-US" altLang="zh-CN" sz="2400" dirty="0"/>
              <a:t>30%</a:t>
            </a:r>
            <a:r>
              <a:rPr lang="zh-CN" altLang="en-US" sz="2400" dirty="0"/>
              <a:t>），论文的写作（</a:t>
            </a:r>
            <a:r>
              <a:rPr lang="en-US" altLang="zh-CN" sz="2400" dirty="0"/>
              <a:t>20%</a:t>
            </a:r>
            <a:r>
              <a:rPr lang="zh-CN" altLang="en-US" sz="24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39877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（</a:t>
            </a:r>
            <a:r>
              <a:rPr lang="en-US" altLang="zh-CN" cap="none" dirty="0"/>
              <a:t>B</a:t>
            </a:r>
            <a:r>
              <a:rPr lang="zh-CN" altLang="en-US" cap="none" dirty="0"/>
              <a:t>）实现给定的复杂的系统任务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F046554-D161-47C6-9EA1-96024F1A4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51535"/>
            <a:ext cx="11029615" cy="4760486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zh-CN" altLang="en-US" sz="2400" dirty="0"/>
              <a:t>任务描述：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第一步：阅读论文</a:t>
            </a:r>
            <a:r>
              <a:rPr lang="en-US" altLang="zh-CN" sz="2400" dirty="0"/>
              <a:t>《VMAS: A Vectorized Multi-Agent Simulator for Collective Robot Learning》</a:t>
            </a:r>
            <a:r>
              <a:rPr lang="zh-CN" altLang="en-US" sz="2400" dirty="0"/>
              <a:t>并阅读源代码编写关键步骤代码注释。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第二步：选取论文中提到的三个任务场景</a:t>
            </a:r>
            <a:r>
              <a:rPr lang="en-US" altLang="zh-CN" sz="2400" dirty="0"/>
              <a:t>(Transport, Wheel, Balance)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其中一个任务场景</a:t>
            </a:r>
            <a:r>
              <a:rPr lang="zh-CN" altLang="en-US" sz="2400" dirty="0"/>
              <a:t>，实现论文中提到的</a:t>
            </a:r>
            <a:r>
              <a:rPr lang="en-US" altLang="zh-CN" sz="2400" dirty="0"/>
              <a:t>CPPO</a:t>
            </a:r>
            <a:r>
              <a:rPr lang="zh-CN" altLang="en-US" sz="2400" dirty="0"/>
              <a:t>、</a:t>
            </a:r>
            <a:r>
              <a:rPr lang="en-US" altLang="zh-CN" sz="2400" dirty="0"/>
              <a:t>MAPPO</a:t>
            </a:r>
            <a:r>
              <a:rPr lang="zh-CN" altLang="en-US" sz="2400" dirty="0"/>
              <a:t>、</a:t>
            </a:r>
            <a:r>
              <a:rPr lang="en-US" altLang="zh-CN" sz="2400" dirty="0"/>
              <a:t>IPPO </a:t>
            </a:r>
            <a:r>
              <a:rPr lang="zh-CN" altLang="en-US" sz="2400" dirty="0"/>
              <a:t>三种</a:t>
            </a:r>
            <a:r>
              <a:rPr lang="en-US" altLang="zh-CN" sz="2400" dirty="0"/>
              <a:t>MARL</a:t>
            </a:r>
            <a:r>
              <a:rPr lang="zh-CN" altLang="en-US" sz="2400" dirty="0"/>
              <a:t>算法，尝试复现论文中的结果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第三步：尝试改进上一步中的任一</a:t>
            </a:r>
            <a:r>
              <a:rPr lang="en-US" altLang="zh-CN" sz="2400" dirty="0"/>
              <a:t>MARL</a:t>
            </a:r>
            <a:r>
              <a:rPr lang="zh-CN" altLang="en-US" sz="2400" dirty="0"/>
              <a:t>算法。并阐明改进算法对于实际任务的必要性和优越性。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6168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（</a:t>
            </a:r>
            <a:r>
              <a:rPr lang="en-US" altLang="zh-CN" cap="none" dirty="0"/>
              <a:t>B</a:t>
            </a:r>
            <a:r>
              <a:rPr lang="zh-CN" altLang="en-US" cap="none" dirty="0"/>
              <a:t>）实现给定的复杂的</a:t>
            </a:r>
            <a:r>
              <a:rPr lang="zh-CN" altLang="en-US" cap="none"/>
              <a:t>系统任务（选取其中一个任务）</a:t>
            </a:r>
            <a:endParaRPr lang="zh-CN" altLang="en-US" cap="none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493C320-5512-5072-1F40-08AD4B0E27F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119" y="1742181"/>
            <a:ext cx="3104708" cy="310470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7149EF7-8EDE-0C0F-D5AC-CE8E56CF77C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778" y="2285999"/>
            <a:ext cx="3104708" cy="31047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163789-3A65-B988-E19E-CD69F1EAF51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51" y="2190307"/>
            <a:ext cx="4800600" cy="3200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892DFFC-0141-F501-E655-24F7F585CA15}"/>
              </a:ext>
            </a:extLst>
          </p:cNvPr>
          <p:cNvSpPr txBox="1"/>
          <p:nvPr/>
        </p:nvSpPr>
        <p:spPr>
          <a:xfrm>
            <a:off x="1971897" y="5194004"/>
            <a:ext cx="937435" cy="37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football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F2F00F-58C7-746A-84D8-42526237F6DB}"/>
              </a:ext>
            </a:extLst>
          </p:cNvPr>
          <p:cNvSpPr txBox="1"/>
          <p:nvPr/>
        </p:nvSpPr>
        <p:spPr>
          <a:xfrm>
            <a:off x="5867397" y="5206041"/>
            <a:ext cx="1145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transport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9BA517-F3BC-AFFA-721F-73940F2BDCE6}"/>
              </a:ext>
            </a:extLst>
          </p:cNvPr>
          <p:cNvSpPr txBox="1"/>
          <p:nvPr/>
        </p:nvSpPr>
        <p:spPr>
          <a:xfrm>
            <a:off x="9783723" y="5206041"/>
            <a:ext cx="1145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balance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899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实现给定的复杂的系统任务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F046554-D161-47C6-9EA1-96024F1A4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51535"/>
            <a:ext cx="11029615" cy="3663673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zh-CN" altLang="en-US" sz="2400" dirty="0"/>
              <a:t>要求：撰写实现报告，</a:t>
            </a:r>
            <a:r>
              <a:rPr lang="zh-CN" altLang="en-US" sz="2400" dirty="0">
                <a:solidFill>
                  <a:srgbClr val="FF0000"/>
                </a:solidFill>
              </a:rPr>
              <a:t>至少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>
                <a:solidFill>
                  <a:srgbClr val="FF0000"/>
                </a:solidFill>
              </a:rPr>
              <a:t>页</a:t>
            </a:r>
            <a:r>
              <a:rPr lang="zh-CN" altLang="en-US" sz="2400" dirty="0"/>
              <a:t>，并</a:t>
            </a:r>
            <a:r>
              <a:rPr lang="zh-CN" altLang="en-US" sz="2400" dirty="0">
                <a:solidFill>
                  <a:srgbClr val="1CADE4"/>
                </a:solidFill>
              </a:rPr>
              <a:t>将代码上传</a:t>
            </a:r>
            <a:r>
              <a:rPr lang="en-US" altLang="zh-CN" sz="2400" dirty="0">
                <a:solidFill>
                  <a:srgbClr val="1CADE4"/>
                </a:solidFill>
              </a:rPr>
              <a:t>GitHub</a:t>
            </a:r>
            <a:r>
              <a:rPr lang="zh-CN" altLang="en-US" sz="2400" dirty="0">
                <a:solidFill>
                  <a:srgbClr val="1CADE4"/>
                </a:solidFill>
              </a:rPr>
              <a:t>之后随报告以链接形式提交（必须）</a:t>
            </a:r>
            <a:r>
              <a:rPr lang="zh-CN" altLang="en-US" sz="2400" dirty="0"/>
              <a:t>，阶梯式赋分，完成第二步即可获得及格以上的分数，完成度越高，得分越高。</a:t>
            </a:r>
            <a:endParaRPr lang="en-US" altLang="zh-CN" sz="2400" dirty="0"/>
          </a:p>
          <a:p>
            <a:pPr>
              <a:spcAft>
                <a:spcPts val="1800"/>
              </a:spcAft>
            </a:pPr>
            <a:r>
              <a:rPr lang="en-US" altLang="zh-CN" sz="2400" dirty="0"/>
              <a:t>Bonus</a:t>
            </a:r>
            <a:r>
              <a:rPr lang="zh-CN" altLang="en-US" sz="2400" dirty="0"/>
              <a:t>：研讨智能体数量对实验结果的影响，并在报告中对仿真结果进行讨论。</a:t>
            </a:r>
            <a:endParaRPr lang="en-US" altLang="zh-CN" sz="2400" dirty="0"/>
          </a:p>
          <a:p>
            <a:r>
              <a:rPr lang="zh-CN" altLang="en-US" sz="2400" dirty="0"/>
              <a:t>给分基准：复现结果的完整性（</a:t>
            </a:r>
            <a:r>
              <a:rPr lang="en-US" altLang="zh-CN" sz="2400" dirty="0"/>
              <a:t>40%</a:t>
            </a:r>
            <a:r>
              <a:rPr lang="zh-CN" altLang="en-US" sz="2400" dirty="0"/>
              <a:t>），报告写作与完成度（</a:t>
            </a:r>
            <a:r>
              <a:rPr lang="en-US" altLang="zh-CN" sz="2400" dirty="0"/>
              <a:t>40%</a:t>
            </a:r>
            <a:r>
              <a:rPr lang="zh-CN" altLang="en-US" sz="2400" dirty="0"/>
              <a:t>），拓展和分析（</a:t>
            </a:r>
            <a:r>
              <a:rPr lang="en-US" altLang="zh-CN" sz="2400" dirty="0"/>
              <a:t>20%</a:t>
            </a:r>
            <a:r>
              <a:rPr lang="zh-CN" altLang="en-US" sz="24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73850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（</a:t>
            </a:r>
            <a:r>
              <a:rPr lang="en-US" altLang="zh-CN" cap="none" dirty="0"/>
              <a:t>C</a:t>
            </a:r>
            <a:r>
              <a:rPr lang="zh-CN" altLang="en-US" cap="none" dirty="0"/>
              <a:t>）实现现有论文的算法，并做一定拓展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DAAA5-32AE-4CC8-8382-5ABCAD37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97" y="1383029"/>
            <a:ext cx="11029615" cy="493517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要求：</a:t>
            </a:r>
            <a:endParaRPr lang="en-US" altLang="zh-CN" sz="2400" dirty="0"/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自主选取一篇与本课程相关的学术论文，复现论文给出的结论性实验数值、图像结果，并尝试分析与拓展。写出复现报告（</a:t>
            </a:r>
            <a:r>
              <a:rPr lang="en-US" altLang="zh-CN" sz="2400" dirty="0"/>
              <a:t>Reproducibility Reports</a:t>
            </a:r>
            <a:r>
              <a:rPr lang="zh-CN" altLang="en-US" sz="2400" dirty="0"/>
              <a:t>），</a:t>
            </a:r>
            <a:r>
              <a:rPr lang="zh-CN" altLang="en-US" sz="2400" dirty="0">
                <a:solidFill>
                  <a:srgbClr val="FF0000"/>
                </a:solidFill>
              </a:rPr>
              <a:t>至少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>
                <a:solidFill>
                  <a:srgbClr val="FF0000"/>
                </a:solidFill>
              </a:rPr>
              <a:t>页</a:t>
            </a:r>
            <a:r>
              <a:rPr lang="zh-CN" altLang="en-US" sz="2400" dirty="0"/>
              <a:t>，并</a:t>
            </a:r>
            <a:r>
              <a:rPr lang="zh-CN" altLang="en-US" sz="2400" dirty="0">
                <a:solidFill>
                  <a:srgbClr val="1CADE4"/>
                </a:solidFill>
              </a:rPr>
              <a:t>将代码上传</a:t>
            </a:r>
            <a:r>
              <a:rPr lang="en-US" altLang="zh-CN" sz="2400" dirty="0">
                <a:solidFill>
                  <a:srgbClr val="1CADE4"/>
                </a:solidFill>
              </a:rPr>
              <a:t>GitHub</a:t>
            </a:r>
            <a:r>
              <a:rPr lang="zh-CN" altLang="en-US" sz="2400" dirty="0">
                <a:solidFill>
                  <a:srgbClr val="1CADE4"/>
                </a:solidFill>
              </a:rPr>
              <a:t>，报告中给出代码链接（必须）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代码组织清晰，备注完善；实现语言、工具不限。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r>
              <a:rPr lang="zh-CN" altLang="en-US" sz="2400" dirty="0"/>
              <a:t>报告形式：</a:t>
            </a:r>
            <a:endParaRPr lang="en-US" altLang="zh-CN" sz="2400" dirty="0"/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参考“</a:t>
            </a:r>
            <a:r>
              <a:rPr lang="en-US" altLang="zh-CN" sz="2400" dirty="0"/>
              <a:t>Paper with code</a:t>
            </a:r>
            <a:r>
              <a:rPr lang="zh-CN" altLang="en-US" sz="2400" dirty="0"/>
              <a:t>”比赛中的可复现性报告；</a:t>
            </a:r>
            <a:endParaRPr lang="en-US" altLang="zh-CN" sz="2400" dirty="0"/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样例：</a:t>
            </a:r>
            <a:r>
              <a:rPr lang="en-US" altLang="zh-CN" sz="2400" dirty="0"/>
              <a:t>https://paperswithcode.com/paper/complex-valued-neural-networks-for-privacy</a:t>
            </a:r>
          </a:p>
        </p:txBody>
      </p:sp>
    </p:spTree>
    <p:extLst>
      <p:ext uri="{BB962C8B-B14F-4D97-AF65-F5344CB8AC3E}">
        <p14:creationId xmlns:p14="http://schemas.microsoft.com/office/powerpoint/2010/main" val="346747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实现现有论文的算法，并做一定拓展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DAAA5-32AE-4CC8-8382-5ABCAD37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97" y="1383029"/>
            <a:ext cx="11029615" cy="4593017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zh-CN" altLang="en-US" sz="2400" dirty="0"/>
              <a:t>注意事项：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部分论文作者已开源代码，可参考但请勿全盘照抄，若选择开源论文，在报告中需着重指出与原实现的提高和区别。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部分论文在</a:t>
            </a:r>
            <a:r>
              <a:rPr lang="en-US" altLang="zh-CN" sz="2400" dirty="0"/>
              <a:t>under review</a:t>
            </a:r>
            <a:r>
              <a:rPr lang="zh-CN" altLang="en-US" sz="2400" dirty="0"/>
              <a:t>状态，报告中提出批判性意见为加分项。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部分论文或存在可复现性差的问题，参考</a:t>
            </a:r>
            <a:r>
              <a:rPr lang="en-US" altLang="zh-CN" sz="2400" dirty="0"/>
              <a:t>paper with code</a:t>
            </a:r>
            <a:r>
              <a:rPr lang="zh-CN" altLang="en-US" sz="2400" dirty="0"/>
              <a:t>的报告形式给出原因和分析。</a:t>
            </a:r>
            <a:endParaRPr lang="en-US" altLang="zh-CN" sz="2400" dirty="0"/>
          </a:p>
          <a:p>
            <a:r>
              <a:rPr lang="zh-CN" altLang="en-US" sz="2400" dirty="0"/>
              <a:t>给分基准：复现结果的完整性（</a:t>
            </a:r>
            <a:r>
              <a:rPr lang="en-US" altLang="zh-CN" sz="2400" dirty="0"/>
              <a:t>40%</a:t>
            </a:r>
            <a:r>
              <a:rPr lang="zh-CN" altLang="en-US" sz="2400" dirty="0"/>
              <a:t>），报告写作与完成度（</a:t>
            </a:r>
            <a:r>
              <a:rPr lang="en-US" altLang="zh-CN" sz="2400" dirty="0"/>
              <a:t>40%</a:t>
            </a:r>
            <a:r>
              <a:rPr lang="zh-CN" altLang="en-US" sz="2400" dirty="0"/>
              <a:t>），拓展和分析（</a:t>
            </a:r>
            <a:r>
              <a:rPr lang="en-US" altLang="zh-CN" sz="2400" dirty="0"/>
              <a:t>20%</a:t>
            </a:r>
            <a:r>
              <a:rPr lang="zh-CN" altLang="en-US" sz="24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89012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（</a:t>
            </a:r>
            <a:r>
              <a:rPr lang="en-US" altLang="zh-CN" cap="none"/>
              <a:t>D</a:t>
            </a:r>
            <a:r>
              <a:rPr lang="zh-CN" altLang="en-US" cap="none"/>
              <a:t>）选取</a:t>
            </a:r>
            <a:r>
              <a:rPr lang="zh-CN" altLang="en-US" cap="none" dirty="0"/>
              <a:t>一个具体研究方向，进行前沿工作综述调研报告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DAAA5-32AE-4CC8-8382-5ABCAD37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83030"/>
            <a:ext cx="10834059" cy="4887984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zh-CN" altLang="en-US" sz="2400" dirty="0"/>
              <a:t>要求：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主题需围绕课程内容，选一个具体方向，选题勿过于宏大；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文献信息来源可靠、全面、丰富；尽可能收集原始文献与权威学者的综述；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结构合理、清晰，文法准确、用词严谨，</a:t>
            </a:r>
            <a:r>
              <a:rPr lang="zh-CN" altLang="en-US" sz="2400" dirty="0">
                <a:solidFill>
                  <a:srgbClr val="FF0000"/>
                </a:solidFill>
              </a:rPr>
              <a:t>至少</a:t>
            </a:r>
            <a:r>
              <a:rPr lang="en-US" altLang="zh-CN" sz="2400" dirty="0">
                <a:solidFill>
                  <a:srgbClr val="FF0000"/>
                </a:solidFill>
              </a:rPr>
              <a:t>12</a:t>
            </a:r>
            <a:r>
              <a:rPr lang="zh-CN" altLang="en-US" sz="2400" dirty="0">
                <a:solidFill>
                  <a:srgbClr val="FF0000"/>
                </a:solidFill>
              </a:rPr>
              <a:t>页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参考文献</a:t>
            </a:r>
            <a:r>
              <a:rPr lang="en-US" altLang="zh-CN" sz="2400" dirty="0"/>
              <a:t>20</a:t>
            </a:r>
            <a:r>
              <a:rPr lang="zh-CN" altLang="en-US" sz="2400" dirty="0"/>
              <a:t>篇以上。</a:t>
            </a:r>
            <a:endParaRPr lang="en-US" altLang="zh-CN" sz="2400" dirty="0"/>
          </a:p>
          <a:p>
            <a:pPr>
              <a:spcAft>
                <a:spcPts val="1800"/>
              </a:spcAft>
            </a:pPr>
            <a:r>
              <a:rPr lang="zh-CN" altLang="en-US" sz="2400" dirty="0"/>
              <a:t>形式：参考常见文献综述形式，包括发展趋势、热点、难点、前景等。</a:t>
            </a:r>
            <a:endParaRPr lang="en-US" altLang="zh-CN" sz="2400" dirty="0"/>
          </a:p>
          <a:p>
            <a:pPr>
              <a:spcAft>
                <a:spcPts val="1800"/>
              </a:spcAft>
            </a:pPr>
            <a:r>
              <a:rPr lang="zh-CN" altLang="en-US" sz="2400" dirty="0"/>
              <a:t>给分基准：选题（</a:t>
            </a:r>
            <a:r>
              <a:rPr lang="en-US" altLang="zh-CN" sz="2400" dirty="0"/>
              <a:t>20</a:t>
            </a:r>
            <a:r>
              <a:rPr lang="zh-CN" altLang="en-US" sz="2400" dirty="0"/>
              <a:t>分）、调研完整性（</a:t>
            </a:r>
            <a:r>
              <a:rPr lang="en-US" altLang="zh-CN" sz="2400" dirty="0"/>
              <a:t>30</a:t>
            </a:r>
            <a:r>
              <a:rPr lang="zh-CN" altLang="en-US" sz="2400" dirty="0"/>
              <a:t>分）、写作（</a:t>
            </a:r>
            <a:r>
              <a:rPr lang="en-US" altLang="zh-CN" sz="2400" dirty="0"/>
              <a:t>50</a:t>
            </a:r>
            <a:r>
              <a:rPr lang="zh-CN" altLang="en-US" sz="2400" dirty="0"/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259701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E6B2-26FD-4E19-9993-99E34D1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0874"/>
          </a:xfrm>
        </p:spPr>
        <p:txBody>
          <a:bodyPr/>
          <a:lstStyle/>
          <a:p>
            <a:r>
              <a:rPr lang="zh-CN" altLang="en-US" cap="none" dirty="0"/>
              <a:t>选取一个具体研究方向，进行前沿工作综述调研报告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DAAA5-32AE-4CC8-8382-5ABCAD37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65910"/>
            <a:ext cx="11029615" cy="338633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800"/>
              </a:spcAft>
            </a:pPr>
            <a:r>
              <a:rPr lang="zh-CN" altLang="en-US" sz="2400" dirty="0"/>
              <a:t>参考主题（不限于）：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/>
              <a:t>Multi-Task Deep Reinforcement Learning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/>
              <a:t>Applications of Reinforcement Learning in Federated Learning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/>
              <a:t>Bayesian Reinforcement Learning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/>
              <a:t>Game Theory for Machine Learning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/>
              <a:t>……….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E360C67-9635-4C2C-9A2B-C1F0D9A832DB}"/>
              </a:ext>
            </a:extLst>
          </p:cNvPr>
          <p:cNvSpPr txBox="1">
            <a:spLocks/>
          </p:cNvSpPr>
          <p:nvPr/>
        </p:nvSpPr>
        <p:spPr>
          <a:xfrm>
            <a:off x="581191" y="5099148"/>
            <a:ext cx="11029615" cy="1373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zh-CN" altLang="en-US" sz="2400" dirty="0"/>
              <a:t>不规范主题样例：</a:t>
            </a:r>
            <a:endParaRPr lang="en-US" altLang="zh-CN" sz="24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/>
              <a:t>Reinforcement Learning: Yesterday, Today and Tomorrow </a:t>
            </a:r>
          </a:p>
        </p:txBody>
      </p:sp>
    </p:spTree>
    <p:extLst>
      <p:ext uri="{BB962C8B-B14F-4D97-AF65-F5344CB8AC3E}">
        <p14:creationId xmlns:p14="http://schemas.microsoft.com/office/powerpoint/2010/main" val="288193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60349" y="733827"/>
            <a:ext cx="897500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大作业报告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539750" indent="-304800">
              <a:buFont typeface="Wingdings" panose="05000000000000000000" pitchFamily="2" charset="2"/>
              <a:buChar char="Ø"/>
            </a:pP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提交期限：</a:t>
            </a:r>
            <a:r>
              <a:rPr lang="en-US" altLang="zh-CN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2024</a:t>
            </a:r>
            <a:r>
              <a:rPr lang="zh-CN" altLang="en-US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年</a:t>
            </a:r>
            <a:r>
              <a:rPr lang="en-US" altLang="zh-CN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月</a:t>
            </a:r>
            <a:r>
              <a:rPr lang="en-US" altLang="zh-CN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r>
            <a:r>
              <a:rPr lang="zh-CN" altLang="en-US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</a:t>
            </a:r>
            <a:r>
              <a:rPr lang="en-US" altLang="zh-CN" sz="28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24:00</a:t>
            </a:r>
            <a:endParaRPr lang="en-US" altLang="zh-CN" sz="28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34950"/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邮件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文件命名：学号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姓名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期末大作业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34950"/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hlinkClick r:id="rId2"/>
            </a:endParaRPr>
          </a:p>
          <a:p>
            <a:pPr marL="539750" indent="-304800"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提交邮箱：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rlhomework2022@163.com</a:t>
            </a:r>
          </a:p>
        </p:txBody>
      </p:sp>
    </p:spTree>
    <p:extLst>
      <p:ext uri="{BB962C8B-B14F-4D97-AF65-F5344CB8AC3E}">
        <p14:creationId xmlns:p14="http://schemas.microsoft.com/office/powerpoint/2010/main" val="38595616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3_TF33552983.potx" id="{E785B998-EA1E-435A-BC09-53167714146B}" vid="{39930FD0-D29E-42B6-87EA-7A1632EF1D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{E64906CC-209E-404C-9583-6E1C4CBE7D5B}tf33552983_win32</Template>
  <TotalTime>3687</TotalTime>
  <Words>956</Words>
  <Application>Microsoft Office PowerPoint</Application>
  <PresentationFormat>宽屏</PresentationFormat>
  <Paragraphs>85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 UI</vt:lpstr>
      <vt:lpstr>Calibri</vt:lpstr>
      <vt:lpstr>Wingdings</vt:lpstr>
      <vt:lpstr>Wingdings 2</vt:lpstr>
      <vt:lpstr>DividendVTI</vt:lpstr>
      <vt:lpstr>强化学习与博弈论课程期末大作业</vt:lpstr>
      <vt:lpstr>大作业选题：四选一</vt:lpstr>
      <vt:lpstr>（A）定义一个研究问题，利用课程的理论与算法进行研究</vt:lpstr>
      <vt:lpstr>（B）实现给定的复杂的系统任务</vt:lpstr>
      <vt:lpstr>（B）实现给定的复杂的系统任务（选取其中一个任务）</vt:lpstr>
      <vt:lpstr>实现给定的复杂的系统任务</vt:lpstr>
      <vt:lpstr>（C）实现现有论文的算法，并做一定拓展</vt:lpstr>
      <vt:lpstr>实现现有论文的算法，并做一定拓展</vt:lpstr>
      <vt:lpstr>（D）选取一个具体研究方向，进行前沿工作综述调研报告</vt:lpstr>
      <vt:lpstr>选取一个具体研究方向，进行前沿工作综述调研报告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PECAM: Privacy-Enhanced Video Streaming and Analytics via Securely-Reversible Transformation</dc:title>
  <dc:creator>竞宜</dc:creator>
  <cp:lastModifiedBy>XU CHEN</cp:lastModifiedBy>
  <cp:revision>162</cp:revision>
  <dcterms:created xsi:type="dcterms:W3CDTF">2021-03-19T05:23:45Z</dcterms:created>
  <dcterms:modified xsi:type="dcterms:W3CDTF">2024-12-03T05:11:55Z</dcterms:modified>
</cp:coreProperties>
</file>